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Department of Computer Science and Information Engineering (CSIE) | Chang Gung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Dr. Ammar Amjad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6766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85FA5"/>
                </a:solidFill>
                <a:latin typeface="Calibri"/>
              </a:defRPr>
            </a:pPr>
            <a:r>
              <a:t>Postdoctoral Researcher</a:t>
            </a:r>
          </a:p>
          <a:p>
            <a:pPr>
              <a:defRPr sz="2000">
                <a:solidFill>
                  <a:srgbClr val="1E283A"/>
                </a:solidFill>
                <a:latin typeface="Calibri"/>
              </a:defRPr>
            </a:pPr>
            <a:r>
              <a:t>National Yang Ming Chiao Tung University (NYCU)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097280"/>
            <a:ext cx="4480560" cy="5303520"/>
          </a:xfrm>
          <a:prstGeom prst="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1828800"/>
            <a:ext cx="292608" cy="292608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1737360"/>
            <a:ext cx="292608" cy="292608"/>
          </a:xfrm>
          <a:prstGeom prst="ellipse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2286000"/>
            <a:ext cx="292608" cy="292608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0" y="2926080"/>
            <a:ext cx="292608" cy="292608"/>
          </a:xfrm>
          <a:prstGeom prst="ellipse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0" y="3383280"/>
            <a:ext cx="292608" cy="292608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4023360"/>
            <a:ext cx="292608" cy="292608"/>
          </a:xfrm>
          <a:prstGeom prst="ellipse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0" y="4663440"/>
            <a:ext cx="292608" cy="292608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0" y="5212080"/>
            <a:ext cx="292608" cy="292608"/>
          </a:xfrm>
          <a:prstGeom prst="ellipse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7909560" y="1874519"/>
            <a:ext cx="1554480" cy="91441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64040" y="1874519"/>
            <a:ext cx="1371600" cy="548641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549640" y="2423160"/>
            <a:ext cx="2286000" cy="640080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49640" y="3063240"/>
            <a:ext cx="1463040" cy="457200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12680" y="3520440"/>
            <a:ext cx="1097280" cy="640080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915400" y="4160520"/>
            <a:ext cx="2194560" cy="640080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4800600"/>
            <a:ext cx="1371600" cy="548640"/>
          </a:xfrm>
          <a:prstGeom prst="line">
            <a:avLst/>
          </a:prstGeom>
          <a:ln w="15240"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9494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Academic background in AI, Machine Learning, and Computer Vision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Education: BSc -&gt; MSc -&gt; PhD in Computer Science related disciplines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Professional experience across academia and applied AI projects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Current position: Postdoctoral Researcher at NYCU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Research interests: NLP, Medical AI, Explainable &amp; Generative AI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E283A"/>
                </a:solidFill>
                <a:latin typeface="Calibri"/>
              </a:defRPr>
            </a:pPr>
            <a:r>
              <a:t>Career highlights: publications, supervision, and collaborations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Research Focus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Human-centered, trustworthy, and translational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15468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Teaching Vision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Engaging classrooms with project-driven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480560"/>
            <a:ext cx="3474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Faculty Goal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Build impactful AI programs and mentor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Academic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3291840"/>
            <a:ext cx="10058400" cy="0"/>
          </a:xfrm>
          <a:prstGeom prst="line">
            <a:avLst/>
          </a:prstGeom>
          <a:ln>
            <a:solidFill>
              <a:srgbClr val="5C9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41832" y="3127248"/>
            <a:ext cx="310896" cy="310896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19" y="20116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Bachelor's</a:t>
            </a:r>
            <a:br/>
            <a:r>
              <a:t>Degree</a:t>
            </a:r>
          </a:p>
        </p:txBody>
      </p:sp>
      <p:sp>
        <p:nvSpPr>
          <p:cNvPr id="7" name="Oval 6"/>
          <p:cNvSpPr/>
          <p:nvPr/>
        </p:nvSpPr>
        <p:spPr>
          <a:xfrm>
            <a:off x="2953512" y="3127248"/>
            <a:ext cx="310896" cy="310896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6118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Master's</a:t>
            </a:r>
            <a:br/>
            <a:r>
              <a:t>Degree</a:t>
            </a:r>
          </a:p>
        </p:txBody>
      </p:sp>
      <p:sp>
        <p:nvSpPr>
          <p:cNvPr id="9" name="Oval 8"/>
          <p:cNvSpPr/>
          <p:nvPr/>
        </p:nvSpPr>
        <p:spPr>
          <a:xfrm>
            <a:off x="4965192" y="3127248"/>
            <a:ext cx="310896" cy="310896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PhD</a:t>
            </a:r>
          </a:p>
        </p:txBody>
      </p:sp>
      <p:sp>
        <p:nvSpPr>
          <p:cNvPr id="11" name="Oval 10"/>
          <p:cNvSpPr/>
          <p:nvPr/>
        </p:nvSpPr>
        <p:spPr>
          <a:xfrm>
            <a:off x="6976872" y="3127248"/>
            <a:ext cx="310896" cy="310896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6118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Research</a:t>
            </a:r>
            <a:br/>
            <a:r>
              <a:t>Experience</a:t>
            </a:r>
          </a:p>
        </p:txBody>
      </p:sp>
      <p:sp>
        <p:nvSpPr>
          <p:cNvPr id="13" name="Oval 12"/>
          <p:cNvSpPr/>
          <p:nvPr/>
        </p:nvSpPr>
        <p:spPr>
          <a:xfrm>
            <a:off x="8988552" y="3127248"/>
            <a:ext cx="310896" cy="310896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Postdoctoral</a:t>
            </a:r>
            <a:br/>
            <a:r>
              <a:t>Research</a:t>
            </a:r>
          </a:p>
        </p:txBody>
      </p:sp>
      <p:sp>
        <p:nvSpPr>
          <p:cNvPr id="15" name="Oval 14"/>
          <p:cNvSpPr/>
          <p:nvPr/>
        </p:nvSpPr>
        <p:spPr>
          <a:xfrm>
            <a:off x="11000232" y="3127248"/>
            <a:ext cx="310896" cy="310896"/>
          </a:xfrm>
          <a:prstGeom prst="ellipse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9" y="36118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Faculty</a:t>
            </a:r>
            <a:br/>
            <a:r>
              <a:t>Career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Teaching Philosophy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Student-Centered Learning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Personalized guidance and inclusive learning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Active Learning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In-class problem solving, peer discussion, and feedback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Project-Based Learning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Real-world AI/CS projects with measurable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Research-Integrated Teaching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Latest papers and lab experience in coursework.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84048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AI-Assisted Education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Use of coding assistants and adaptive learning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840480"/>
            <a:ext cx="35661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Industry Collaboration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Guest lectures and co-designed capstone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Courses I Can Teach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94960" cy="438912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754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Undergraduate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Programming, Python Programming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Data Structures, Algorithms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Artificial Intelligence, Machine Learning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Computer Vision, Image Processing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Database Systems,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5720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Graduate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Deep Learning, Advanced Machine Learning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Natural Language Processing, Large Language Models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Computer Vision, Medical AI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Explainable AI, Generative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Teaching Demonstration: Introduction to Digital Image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754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What is an image?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Pixels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RGB Color Model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Grayscale images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Image filtering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Edge detection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CNN applications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500">
                <a:solidFill>
                  <a:srgbClr val="1E283A"/>
                </a:solidFill>
                <a:latin typeface="Calibri"/>
              </a:defRPr>
            </a:pPr>
            <a:r>
              <a:t>Medical imaging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828800"/>
            <a:ext cx="5760720" cy="4389120"/>
          </a:xfrm>
          <a:prstGeom prst="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D2D61"/>
                </a:solidFill>
                <a:latin typeface="Calibri"/>
              </a:defRPr>
            </a:pPr>
            <a:r>
              <a:t>Image Processing Pipeline Diagram</a:t>
            </a:r>
          </a:p>
          <a:p>
            <a:r>
              <a:t>Input -&gt; Filter -&gt; Edge Map -&gt; CNN -&gt; Clinical 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Teaching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Courses Taught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AI, Machine Learning, Programming, and Image Analysis related courses.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Student Supervision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Supervised undergraduate projects and graduate theses.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Practical Projects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Hands-on team projects with real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9184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Programming Assignments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Scaffolded assignments from basics to model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5394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Interactive Methods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Flipped classroom, peer review, and coding clinics.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Research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2468880" cy="1645920"/>
          </a:xfrm>
          <a:prstGeom prst="ellipse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Natural Language Processing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011680"/>
            <a:ext cx="2468880" cy="1645920"/>
          </a:xfrm>
          <a:prstGeom prst="ellipse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2011680"/>
            <a:ext cx="2468880" cy="1645920"/>
          </a:xfrm>
          <a:prstGeom prst="ellipse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9326880" y="2011680"/>
            <a:ext cx="2468880" cy="1645920"/>
          </a:xfrm>
          <a:prstGeom prst="ellipse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Speech Processing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114800"/>
            <a:ext cx="2468880" cy="1645920"/>
          </a:xfrm>
          <a:prstGeom prst="ellipse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Medical AI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4114800"/>
            <a:ext cx="2468880" cy="1645920"/>
          </a:xfrm>
          <a:prstGeom prst="ellipse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4114800"/>
            <a:ext cx="2468880" cy="1645920"/>
          </a:xfrm>
          <a:prstGeom prst="ellipse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Generative AI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4114800"/>
            <a:ext cx="2468880" cy="1645920"/>
          </a:xfrm>
          <a:prstGeom prst="ellipse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83A"/>
                </a:solidFill>
                <a:latin typeface="Calibri"/>
              </a:defRPr>
            </a:pPr>
            <a:r>
              <a:t>Multimodal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Research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Total Publications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SCI Journal Papers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103120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Conference Papers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840479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h-index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840479"/>
            <a:ext cx="2194560" cy="1234440"/>
          </a:xfrm>
          <a:prstGeom prst="roundRect">
            <a:avLst/>
          </a:prstGeom>
          <a:solidFill>
            <a:srgbClr val="E6F2FF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XX</a:t>
            </a:r>
          </a:p>
          <a:p>
            <a:pPr algn="ctr">
              <a:defRPr sz="1200">
                <a:solidFill>
                  <a:srgbClr val="1E283A"/>
                </a:solidFill>
                <a:latin typeface="Calibri"/>
              </a:defRPr>
            </a:pPr>
            <a:r>
              <a:t>i10-index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79" y="5120640"/>
          <a:ext cx="4114800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Selected Research Contribution 1: NLP for Clinical Text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Selected Research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Define challenge, gap, and domain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Pipeline, datasets, and learning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Model Architecture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Backbone, modules, and training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Experimental Results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Accuracy / F1 / AUC placeholders and baseline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4612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Key Contributions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Novelty, interpretability, and clinical/real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Future Applications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Deployment pathway, transfer learning, and extension.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606C80"/>
                </a:solidFill>
                <a:latin typeface="Calibri"/>
              </a:defRPr>
            </a:pPr>
            <a:r>
              <a:t>AI Architecture Diagram 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Selected Research Contribution 2: Vision Transformers for Medical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Selected Research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Define challenge, gap, and domain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Pipeline, datasets, and learning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Model Architecture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Backbone, modules, and training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Experimental Results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Accuracy / F1 / AUC placeholders and baseline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4612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Key Contributions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Novelty, interpretability, and clinical/real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Future Applications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Deployment pathway, transfer learning, and extension.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606C80"/>
                </a:solidFill>
                <a:latin typeface="Calibri"/>
              </a:defRPr>
            </a:pPr>
            <a:r>
              <a:t>AI Architecture Diagram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Selected Research Contribution 3: Explainable AI for Diagnostic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Selected Research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Define challenge, gap, and domain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Pipeline, datasets, and learning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Model Architecture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Backbone, modules, and training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Experimental Results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Accuracy / F1 / AUC placeholders and baseline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4612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Key Contributions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Novelty, interpretability, and clinical/real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Future Applications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Deployment pathway, transfer learning, and extension.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606C80"/>
                </a:solidFill>
                <a:latin typeface="Calibri"/>
              </a:defRPr>
            </a:pPr>
            <a:r>
              <a:t>AI Architecture Diagram 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Selected Research Contribution 4: Multimodal Speech-Language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Selected Research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Define challenge, gap, and domain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Pipeline, datasets, and learning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Model Architecture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Backbone, modules, and training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Experimental Results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Accuracy / F1 / AUC placeholders and baseline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4612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Key Contributions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Novelty, interpretability, and clinical/real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Future Applications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Deployment pathway, transfer learning, and extension.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606C80"/>
                </a:solidFill>
                <a:latin typeface="Calibri"/>
              </a:defRPr>
            </a:pPr>
            <a:r>
              <a:t>AI Architecture Diagram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Selected Research Contribution 5: Generative AI for 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Selected Research Contribution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Problem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Define challenge, gap, and domain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Pipeline, datasets, and learning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Model Architecture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Backbone, modules, and training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Experimental Results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Accuracy / F1 / AUC placeholders and baseline gains.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4612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Key Contributions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Novelty, interpretability, and clinical/real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2120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Future Applications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Deployment pathway, transfer learning, and extension.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486400"/>
            <a:ext cx="3931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606C80"/>
                </a:solidFill>
                <a:latin typeface="Calibri"/>
              </a:defRPr>
            </a:pPr>
            <a:r>
              <a:t>AI Architecture Diagram 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Current Research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AI for Healthcare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92024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Speech Emotion Recognition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92024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Natural Language Processing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Medical Image Analysis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02336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Industry AI Projects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023360"/>
            <a:ext cx="34747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High Performance Computing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Project summary placeholder.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731520" y="2743200"/>
            <a:ext cx="1051560" cy="731520"/>
          </a:xfrm>
          <a:prstGeom prst="chevron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Multimodal AI</a:t>
            </a:r>
          </a:p>
        </p:txBody>
      </p:sp>
      <p:sp>
        <p:nvSpPr>
          <p:cNvPr id="5" name="Chevron 4"/>
          <p:cNvSpPr/>
          <p:nvPr/>
        </p:nvSpPr>
        <p:spPr>
          <a:xfrm>
            <a:off x="1828800" y="3840480"/>
            <a:ext cx="1051560" cy="731520"/>
          </a:xfrm>
          <a:prstGeom prst="chevron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Large Language Models</a:t>
            </a:r>
          </a:p>
        </p:txBody>
      </p:sp>
      <p:sp>
        <p:nvSpPr>
          <p:cNvPr id="6" name="Chevron 5"/>
          <p:cNvSpPr/>
          <p:nvPr/>
        </p:nvSpPr>
        <p:spPr>
          <a:xfrm>
            <a:off x="2926080" y="2743200"/>
            <a:ext cx="1051560" cy="731520"/>
          </a:xfrm>
          <a:prstGeom prst="chevron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7" name="Chevron 6"/>
          <p:cNvSpPr/>
          <p:nvPr/>
        </p:nvSpPr>
        <p:spPr>
          <a:xfrm>
            <a:off x="4023359" y="3840480"/>
            <a:ext cx="1051560" cy="731520"/>
          </a:xfrm>
          <a:prstGeom prst="chevron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Trustworthy AI</a:t>
            </a:r>
          </a:p>
        </p:txBody>
      </p:sp>
      <p:sp>
        <p:nvSpPr>
          <p:cNvPr id="8" name="Chevron 7"/>
          <p:cNvSpPr/>
          <p:nvPr/>
        </p:nvSpPr>
        <p:spPr>
          <a:xfrm>
            <a:off x="5120640" y="2743200"/>
            <a:ext cx="1051560" cy="731520"/>
          </a:xfrm>
          <a:prstGeom prst="chevron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Medical AI</a:t>
            </a:r>
          </a:p>
        </p:txBody>
      </p:sp>
      <p:sp>
        <p:nvSpPr>
          <p:cNvPr id="9" name="Chevron 8"/>
          <p:cNvSpPr/>
          <p:nvPr/>
        </p:nvSpPr>
        <p:spPr>
          <a:xfrm>
            <a:off x="6217920" y="3840480"/>
            <a:ext cx="1051560" cy="731520"/>
          </a:xfrm>
          <a:prstGeom prst="chevron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Edge AI</a:t>
            </a:r>
          </a:p>
        </p:txBody>
      </p:sp>
      <p:sp>
        <p:nvSpPr>
          <p:cNvPr id="10" name="Chevron 9"/>
          <p:cNvSpPr/>
          <p:nvPr/>
        </p:nvSpPr>
        <p:spPr>
          <a:xfrm>
            <a:off x="7315199" y="2743200"/>
            <a:ext cx="1051560" cy="731520"/>
          </a:xfrm>
          <a:prstGeom prst="chevron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for Healthcare</a:t>
            </a:r>
          </a:p>
        </p:txBody>
      </p:sp>
      <p:sp>
        <p:nvSpPr>
          <p:cNvPr id="11" name="Chevron 10"/>
          <p:cNvSpPr/>
          <p:nvPr/>
        </p:nvSpPr>
        <p:spPr>
          <a:xfrm>
            <a:off x="8412480" y="3840480"/>
            <a:ext cx="1051560" cy="731520"/>
          </a:xfrm>
          <a:prstGeom prst="chevron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Human-Centered AI</a:t>
            </a:r>
          </a:p>
        </p:txBody>
      </p:sp>
      <p:sp>
        <p:nvSpPr>
          <p:cNvPr id="12" name="Chevron 11"/>
          <p:cNvSpPr/>
          <p:nvPr/>
        </p:nvSpPr>
        <p:spPr>
          <a:xfrm>
            <a:off x="9509760" y="2743200"/>
            <a:ext cx="1051560" cy="731520"/>
          </a:xfrm>
          <a:prstGeom prst="chevron">
            <a:avLst/>
          </a:prstGeom>
          <a:solidFill>
            <a:srgbClr val="5C9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Industry Collaboration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10607040" y="3840480"/>
            <a:ext cx="1051560" cy="731520"/>
          </a:xfrm>
          <a:prstGeom prst="chevron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International Collaboration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Academic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Journal Reviewer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0116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Conference Reviewer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0116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Editorial Activities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Research Collaboration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93192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Student Mentoring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3192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Professional Memberships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Service portfolio placeholder.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Why Chang Gung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766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Alignment with CSIE research strengths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Potential collaborations across AI and engineering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Medical AI opportunities with clinical ecosystem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Interdisciplinary research and translational impact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Strong teaching contributions and curriculum innovation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>
                <a:solidFill>
                  <a:srgbClr val="1E283A"/>
                </a:solidFill>
                <a:latin typeface="Calibri"/>
              </a:defRPr>
            </a:pPr>
            <a:r>
              <a:t>Student mentorship with long-term research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92024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Strategic Fit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Collaborative ecosystem to build a globally competitive AI program.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Faculty Job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Five-Year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Research Lab Development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Graduate Student Supervision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0116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International Collaboration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Research Funding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02336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Industry Partnerships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402336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9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2D61"/>
                </a:solidFill>
                <a:latin typeface="Calibri"/>
              </a:defRPr>
            </a:pPr>
            <a:r>
              <a:t>High-impact Publications</a:t>
            </a:r>
          </a:p>
          <a:p>
            <a:pPr>
              <a:defRPr sz="1300">
                <a:solidFill>
                  <a:srgbClr val="606C80"/>
                </a:solidFill>
                <a:latin typeface="Calibri"/>
              </a:defRPr>
            </a:pPr>
            <a:r>
              <a:t>Milestones and KPIs placeholder.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D61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85FA5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675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2D61"/>
                </a:solidFill>
                <a:latin typeface="Calibri"/>
              </a:defRPr>
            </a:pPr>
            <a:r>
              <a:t>Dr. Ammar Amjad</a:t>
            </a:r>
            <a:br/>
            <a:r>
              <a:t>Postdoctoral Researcher, NYCU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